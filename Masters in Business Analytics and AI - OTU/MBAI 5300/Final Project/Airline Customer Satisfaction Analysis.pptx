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Average"/>
      <p:regular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swald-regular.fntdata"/><Relationship Id="rId27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1a5f2aa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1a5f2aa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91a5f2aa9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91a5f2aa9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1a5f2aa9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91a5f2aa9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1a5f2aa9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91a5f2aa9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1a5f2aa9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91a5f2aa9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1a5f2aa9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91a5f2aa9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1a5f2aa9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1a5f2aa9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07b5b5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07b5b5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91a5f2aa9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91a5f2aa9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1a5f2aa9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1a5f2aa9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1a5f2aa9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1a5f2aa9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91a5f2aa9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91a5f2aa9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91a5f2aa9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91a5f2aa9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1a5f2aa9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1a5f2aa9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91a5f2aa9_3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91a5f2aa9_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91a5f2aa9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91a5f2aa9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953db08d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953db08d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91a5f2aa9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91a5f2aa9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95cbb8e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95cbb8e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368025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Airline Customer Satisfaction – Data Analysis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359399"/>
            <a:ext cx="7801500" cy="15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Mohammad Shah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Abdul Wasay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Faria Akther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Sumandeep Kaur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9026" l="23343" r="23337" t="37082"/>
          <a:stretch/>
        </p:blipFill>
        <p:spPr>
          <a:xfrm>
            <a:off x="3072550" y="1627875"/>
            <a:ext cx="2826051" cy="201422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7905750" y="4618075"/>
            <a:ext cx="112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Group 15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Aim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Dataset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Pre-processing, and cleaning the dataset for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Analytical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Satisfaction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based </a:t>
            </a:r>
            <a:r>
              <a:rPr lang="en"/>
              <a:t>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Eco, Eco Plus, Business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Recommendations for Airlines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Aim: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 Identify the primary factors that enhance customer satisfaction</a:t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Compare satisfaction factors across class types, and analyze how customer expectations vary among them</a:t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Highlight high impact but low rated service areas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9026" l="23343" r="23337" t="37082"/>
          <a:stretch/>
        </p:blipFill>
        <p:spPr>
          <a:xfrm>
            <a:off x="3158975" y="2805050"/>
            <a:ext cx="2826051" cy="201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Dataset: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 is from a real airline, with the airline name undisclosed, but the data reflects real passenger experiences (dataset is from Kaggle)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Exploring the dataset 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Dataset shape: (129880 rows, 22 cols).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 object (categorical) columns (e.g. satisfaction, Customer Type, Type of Travel, Class).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18 integer columns (age, ratings, delays, etc.).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 float column (Arrival Delay in Minutes after imputation).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 title="Screenshot 2025-11-21 1736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8888" y="3859474"/>
            <a:ext cx="1686225" cy="8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 – Handling Missing Values: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20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 Check: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df.isnull().sum() to count missing values column-wise.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Identified missing values in Arrival Delay in Minutes.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 – Handling Missing Values: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Imputation Strategy: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Computed the median arrival delay.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Replaced missing values in Arrival Delay in Minutes with this median.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Why Median Imputation?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Median is robust to extreme delay values (outliers).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Avoids dropping rows and losing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the distribution of delays realistic for analysis.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Methods: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For Statistical Analysis:</a:t>
            </a:r>
            <a:endParaRPr u="sng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Started with setting up factors which needs to be considered to derive insights.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eg- seat comfort, inflight entertainment, online boarding, check in services etc are some factors considered.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setup the correlation of the overall customer </a:t>
            </a:r>
            <a:r>
              <a:rPr lang="en"/>
              <a:t>experience</a:t>
            </a:r>
            <a:r>
              <a:rPr lang="en"/>
              <a:t> and the different seating classes with each factor.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/>
              <a:t>Data Visualisation: </a:t>
            </a:r>
            <a:endParaRPr u="sng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Bar charts are used to present our                                                                    findings effectively.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475" y="3656225"/>
            <a:ext cx="3815975" cy="7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Satisfaction Distribution: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600" y="1173675"/>
            <a:ext cx="4519700" cy="35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73675"/>
            <a:ext cx="3830904" cy="35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Factor C</a:t>
            </a:r>
            <a:r>
              <a:rPr lang="en"/>
              <a:t>orrelation </a:t>
            </a:r>
            <a:r>
              <a:rPr lang="en"/>
              <a:t>Analysis: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6078875" y="1131250"/>
            <a:ext cx="2753400" cy="26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ranking highlights two major themes: passengers value digital convenience for the flight, and engaging in-flight experiences during the flight</a:t>
            </a:r>
            <a:endParaRPr sz="16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50" y="1131250"/>
            <a:ext cx="5512651" cy="34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Average Rating: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6177325" y="1140750"/>
            <a:ext cx="26550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Shifting from Correlation to average rating shows a new perspective on these factors. </a:t>
            </a:r>
            <a:endParaRPr sz="1600"/>
          </a:p>
          <a:p>
            <a:pPr indent="-3302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</a:t>
            </a:r>
            <a:r>
              <a:rPr lang="en" sz="1600"/>
              <a:t>factors in this dataset reached an average rating of 4 or above.</a:t>
            </a:r>
            <a:endParaRPr sz="160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52472"/>
            <a:ext cx="586563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Class Factor Correlation Analysis: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6237925" y="1143825"/>
            <a:ext cx="264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Based off the rankings in the bar chart, there is high correlation of inflight entertainment, and ease of online booking, meaning a stronger relationship with customer satisfaction.</a:t>
            </a:r>
            <a:endParaRPr sz="1600"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976" y="1143825"/>
            <a:ext cx="5731197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Class Average Rating: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6184925" y="1152475"/>
            <a:ext cx="279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a</a:t>
            </a:r>
            <a:r>
              <a:rPr lang="en" sz="1600"/>
              <a:t>verage ratings for Business Class we see cleanliness and baggage handling scoring highest, while food &amp; drink and seat comfort have the lowest score.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From Gate location onwards we see a greater drop in rating</a:t>
            </a:r>
            <a:endParaRPr sz="1600"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72" y="1152475"/>
            <a:ext cx="578527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Economy-Plus Factor Correlation Analysis: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6216750" y="1152475"/>
            <a:ext cx="285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</a:t>
            </a:r>
            <a:r>
              <a:rPr lang="en"/>
              <a:t>nflight entertainment, online booking ease, and seat comfort display the strongest positive correlations.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overall correlation, we see </a:t>
            </a:r>
            <a:r>
              <a:rPr lang="en"/>
              <a:t>Inflight entertainment, online booking ease take the top two spots.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500" y="1152475"/>
            <a:ext cx="573731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Economy-Plus Average Rating: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6391375" y="1152475"/>
            <a:ext cx="260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leanliness and baggage handling are rated as the strongest average rating, while and food &amp; drink receiving the lowest.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07968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Economy Factor Correlation Analysis: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6132000" y="1152475"/>
            <a:ext cx="285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bar chart suggests that Economy and Economy Plus, share the same top three </a:t>
            </a:r>
            <a:r>
              <a:rPr lang="en"/>
              <a:t>factors.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Indicating the the two classes share similar values 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76254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Economy Factor Average Rating: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6153100" y="1152475"/>
            <a:ext cx="295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hese average ratings from Economy-Class passengers complement the earlier correlation results by showing that factors like cleanliness, baggage handling, and </a:t>
            </a:r>
            <a:r>
              <a:rPr lang="en"/>
              <a:t>legroom</a:t>
            </a:r>
            <a:r>
              <a:rPr lang="en"/>
              <a:t> are rated positively overall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90358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by Class: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4019400" cy="34164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Business Class: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Seat Comfort: </a:t>
            </a:r>
            <a:r>
              <a:rPr lang="en" sz="1400"/>
              <a:t>Lower-rated compared to other Business Class services — improving comfort enhances the overall premium feel.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Food &amp; Drink: </a:t>
            </a:r>
            <a:r>
              <a:rPr lang="en" sz="1400"/>
              <a:t>Passengers expect higher quality at business class, so upgrading meals and presentation strengthens satisfaction.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400"/>
              <a:t>Check-In Service:</a:t>
            </a:r>
            <a:r>
              <a:rPr lang="en" sz="1400"/>
              <a:t> Enhancing speed, priority handling, and support improves the pre-flight experience for business travelers.</a:t>
            </a:r>
            <a:endParaRPr sz="1400"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4615375" y="1152475"/>
            <a:ext cx="4019400" cy="34164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Economy-Plus and Economy Class: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Economy and Economy Plus have similar recommendations: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Food &amp; Drink:</a:t>
            </a:r>
            <a:r>
              <a:rPr lang="en" sz="1400"/>
              <a:t> Lowest-rated service — biggest opportunity to lift satisfaction.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Seat Comfort:</a:t>
            </a:r>
            <a:r>
              <a:rPr lang="en" sz="1400"/>
              <a:t> Strong driver of satisfaction with below-average ratings — needs enhancement.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Inflight WiFi: </a:t>
            </a:r>
            <a:r>
              <a:rPr lang="en" sz="1400"/>
              <a:t>Improves productivity and entertainment — moderate ratings indicate room to upgrade.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Recommendation: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4495800" y="1134025"/>
            <a:ext cx="4336500" cy="3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this table we can derive strong </a:t>
            </a:r>
            <a:r>
              <a:rPr lang="en"/>
              <a:t>influencing</a:t>
            </a:r>
            <a:r>
              <a:rPr lang="en"/>
              <a:t> factors that airlines should focus 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Enhancing inflight entertainment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 online </a:t>
            </a:r>
            <a:r>
              <a:rPr lang="en"/>
              <a:t>experience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well low rated factors that hold some influence on satisfaction that can improve such 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Seat comfort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Food and drink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134025"/>
            <a:ext cx="4191000" cy="3501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Improvements to the charts, more descriptive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(colour, bubble chart, heat map)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/>
              <a:t>Machine Learning Model:</a:t>
            </a:r>
            <a:endParaRPr u="sng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a machine learning model to </a:t>
            </a:r>
            <a:r>
              <a:rPr lang="en"/>
              <a:t>further</a:t>
            </a:r>
            <a:r>
              <a:rPr lang="en"/>
              <a:t> analyze our dataset and findings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would include but not limited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Decision-Tree Classifier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Intensity Analyzer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Airlines must balance improvements between high-impact factors and fixing low-rated factors.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Findings: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</a:t>
            </a:r>
            <a:r>
              <a:rPr lang="en"/>
              <a:t> factors such as seat </a:t>
            </a:r>
            <a:r>
              <a:rPr lang="en"/>
              <a:t>comfort</a:t>
            </a:r>
            <a:r>
              <a:rPr lang="en"/>
              <a:t> </a:t>
            </a:r>
            <a:r>
              <a:rPr lang="en"/>
              <a:t>often</a:t>
            </a:r>
            <a:r>
              <a:rPr lang="en"/>
              <a:t> had low ratings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Online factors often fell in the top to top mid range of correlation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insights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factor scored above a 4 in their ratings, indicating there is a vast room for improvement throughout all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Economy and Economy plus having similar recommendations highlights that rather than class </a:t>
            </a:r>
            <a:r>
              <a:rPr lang="en"/>
              <a:t>specific</a:t>
            </a:r>
            <a:r>
              <a:rPr lang="en"/>
              <a:t> </a:t>
            </a:r>
            <a:r>
              <a:rPr lang="en"/>
              <a:t>improvements, pattern based improvements are needed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2856600" y="1999050"/>
            <a:ext cx="343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Answers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